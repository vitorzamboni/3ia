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66" r:id="rId4"/>
    <p:sldId id="310" r:id="rId5"/>
    <p:sldId id="315" r:id="rId6"/>
    <p:sldId id="316" r:id="rId7"/>
    <p:sldId id="317" r:id="rId8"/>
    <p:sldId id="318" r:id="rId9"/>
    <p:sldId id="319" r:id="rId10"/>
    <p:sldId id="320" r:id="rId11"/>
    <p:sldId id="267" r:id="rId12"/>
    <p:sldId id="268" r:id="rId13"/>
    <p:sldId id="269" r:id="rId14"/>
    <p:sldId id="271" r:id="rId15"/>
    <p:sldId id="270" r:id="rId16"/>
    <p:sldId id="272" r:id="rId17"/>
    <p:sldId id="273" r:id="rId18"/>
    <p:sldId id="259" r:id="rId19"/>
    <p:sldId id="260" r:id="rId20"/>
    <p:sldId id="261" r:id="rId21"/>
    <p:sldId id="262" r:id="rId22"/>
    <p:sldId id="263" r:id="rId23"/>
    <p:sldId id="264" r:id="rId24"/>
  </p:sldIdLst>
  <p:sldSz cx="9144000" cy="6858000" type="screen4x3"/>
  <p:notesSz cx="7099300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4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tângulo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tângulo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tângulo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tângulo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A70D-9869-432D-8560-A0C7575B25BC}" type="datetimeFigureOut">
              <a:rPr lang="pt-BR" smtClean="0"/>
              <a:pPr/>
              <a:t>05/02/2020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Conector reto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tângulo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Elipse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Elipse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5B149EE8-F45B-4914-8404-2DF45EAB5F3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A70D-9869-432D-8560-A0C7575B25BC}" type="datetimeFigureOut">
              <a:rPr lang="pt-BR" smtClean="0"/>
              <a:pPr/>
              <a:t>05/02/2020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5B149EE8-F45B-4914-8404-2DF45EAB5F3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tângulo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tângulo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tângulo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tângulo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tângulo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13" name="Retângulo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tângulo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A70D-9869-432D-8560-A0C7575B25BC}" type="datetimeFigureOut">
              <a:rPr lang="pt-BR" smtClean="0"/>
              <a:pPr/>
              <a:t>05/02/2020</a:t>
            </a:fld>
            <a:endParaRPr lang="pt-BR"/>
          </a:p>
        </p:txBody>
      </p:sp>
      <p:sp>
        <p:nvSpPr>
          <p:cNvPr id="8" name="Conector reto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lipse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ipse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5B149EE8-F45B-4914-8404-2DF45EAB5F3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D494A70D-9869-432D-8560-A0C7575B25BC}" type="datetimeFigureOut">
              <a:rPr lang="pt-BR" smtClean="0"/>
              <a:pPr/>
              <a:t>05/02/2020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49EE8-F45B-4914-8404-2DF45EAB5F3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Conector reto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spaço Reservado para Conteúdo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2" name="Espaço Reservado para Conteúdo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ector reto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tângulo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tângulo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tângulo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tângulo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tângulo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A70D-9869-432D-8560-A0C7575B25BC}" type="datetimeFigureOut">
              <a:rPr lang="pt-BR" smtClean="0"/>
              <a:pPr/>
              <a:t>05/02/2020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pt-BR"/>
          </a:p>
        </p:txBody>
      </p:sp>
      <p:sp>
        <p:nvSpPr>
          <p:cNvPr id="15" name="Conector reto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tângulo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Espaço Reservado para Conteúdo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26" name="Espaço Reservado para Conteúdo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25" name="Elipse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Elipse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5B149EE8-F45B-4914-8404-2DF45EAB5F3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3" name="Título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A70D-9869-432D-8560-A0C7575B25BC}" type="datetimeFigureOut">
              <a:rPr lang="pt-BR" smtClean="0"/>
              <a:pPr/>
              <a:t>05/02/2020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5B149EE8-F45B-4914-8404-2DF45EAB5F3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tângulo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tângulo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tângulo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tângulo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tângulo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A70D-9869-432D-8560-A0C7575B25BC}" type="datetimeFigureOut">
              <a:rPr lang="pt-BR" smtClean="0"/>
              <a:pPr/>
              <a:t>05/02/2020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B149EE8-F45B-4914-8404-2DF45EAB5F3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tângulo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tângulo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tângulo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tângulo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tângulo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8" name="Retângulo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Conector reto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Espaço Reservado para Conteúdo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0" name="Elipse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ipse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5B149EE8-F45B-4914-8404-2DF45EAB5F3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1" name="Retângulo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A70D-9869-432D-8560-A0C7575B25BC}" type="datetimeFigureOut">
              <a:rPr lang="pt-BR" smtClean="0"/>
              <a:pPr/>
              <a:t>05/02/2020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ector reto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tângulo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tângulo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tângulo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tângulo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tângulo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tângulo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Elipse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Elipse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5B149EE8-F45B-4914-8404-2DF45EAB5F3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22" name="Retângulo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D494A70D-9869-432D-8560-A0C7575B25BC}" type="datetimeFigureOut">
              <a:rPr lang="pt-BR" smtClean="0"/>
              <a:pPr/>
              <a:t>05/02/2020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A70D-9869-432D-8560-A0C7575B25BC}" type="datetimeFigureOut">
              <a:rPr lang="pt-BR" smtClean="0"/>
              <a:pPr/>
              <a:t>05/02/2020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49EE8-F45B-4914-8404-2DF45EAB5F3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tângulo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tângulo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tângulo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tângulo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tângulo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Conector reto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lipse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ipse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5B149EE8-F45B-4914-8404-2DF45EAB5F3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A70D-9869-432D-8560-A0C7575B25BC}" type="datetimeFigureOut">
              <a:rPr lang="pt-BR" smtClean="0"/>
              <a:pPr/>
              <a:t>05/02/2020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tângulo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tângulo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tângulo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tângulo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D494A70D-9869-432D-8560-A0C7575B25BC}" type="datetimeFigureOut">
              <a:rPr lang="pt-BR" smtClean="0"/>
              <a:pPr/>
              <a:t>05/02/2020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8" name="Retângulo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Conector reto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Elipse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ipse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5B149EE8-F45B-4914-8404-2DF45EAB5F3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idx="1"/>
          </p:nvPr>
        </p:nvSpPr>
        <p:spPr>
          <a:xfrm>
            <a:off x="179512" y="2564904"/>
            <a:ext cx="6480174" cy="3672408"/>
          </a:xfrm>
        </p:spPr>
        <p:txBody>
          <a:bodyPr>
            <a:normAutofit/>
          </a:bodyPr>
          <a:lstStyle/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Curso Técnico em Informática (Integrado)</a:t>
            </a:r>
          </a:p>
          <a:p>
            <a:r>
              <a:rPr lang="pt-BR" dirty="0"/>
              <a:t>Prof. </a:t>
            </a:r>
            <a:r>
              <a:rPr lang="pt-BR" dirty="0" err="1"/>
              <a:t>Mariane</a:t>
            </a:r>
            <a:r>
              <a:rPr lang="pt-BR" dirty="0"/>
              <a:t> </a:t>
            </a:r>
            <a:r>
              <a:rPr lang="pt-BR" dirty="0" err="1"/>
              <a:t>draghetti</a:t>
            </a:r>
            <a:endParaRPr lang="pt-BR" dirty="0"/>
          </a:p>
          <a:p>
            <a:r>
              <a:rPr lang="pt-BR" sz="1200" cap="none" dirty="0"/>
              <a:t>marianedraghetti@gmail.com</a:t>
            </a:r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Banco de Dados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00192" y="4221088"/>
            <a:ext cx="2664296" cy="2102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Apresentação</a:t>
            </a:r>
          </a:p>
          <a:p>
            <a:r>
              <a:rPr lang="pt-BR" dirty="0"/>
              <a:t>Contrato pedagógico</a:t>
            </a:r>
          </a:p>
        </p:txBody>
      </p:sp>
      <p:sp>
        <p:nvSpPr>
          <p:cNvPr id="4" name="Título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Objetivos e expectativas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00192" y="4221088"/>
            <a:ext cx="2664296" cy="2102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Apresentação e expectativas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>
                <a:latin typeface="+mj-lt"/>
              </a:rPr>
              <a:t>Conheço sobre Banco de dados... </a:t>
            </a:r>
          </a:p>
          <a:p>
            <a:r>
              <a:rPr lang="pt-BR" dirty="0">
                <a:latin typeface="+mj-lt"/>
              </a:rPr>
              <a:t>Nesta disciplina, eu espero aprender...</a:t>
            </a:r>
          </a:p>
          <a:p>
            <a:endParaRPr lang="pt-BR" dirty="0"/>
          </a:p>
        </p:txBody>
      </p:sp>
      <p:sp>
        <p:nvSpPr>
          <p:cNvPr id="49154" name="AutoShape 2" descr="Resultado de imagem para analise de sistemas"/>
          <p:cNvSpPr>
            <a:spLocks noChangeAspect="1" noChangeArrowheads="1"/>
          </p:cNvSpPr>
          <p:nvPr/>
        </p:nvSpPr>
        <p:spPr bwMode="auto">
          <a:xfrm>
            <a:off x="168275" y="-1825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9156" name="AutoShape 4" descr="Resultado de imagem para analise de sistemas"/>
          <p:cNvSpPr>
            <a:spLocks noChangeAspect="1" noChangeArrowheads="1"/>
          </p:cNvSpPr>
          <p:nvPr/>
        </p:nvSpPr>
        <p:spPr bwMode="auto">
          <a:xfrm>
            <a:off x="168275" y="-1825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ítulo 1">
            <a:extLst>
              <a:ext uri="{FF2B5EF4-FFF2-40B4-BE49-F238E27FC236}">
                <a16:creationId xmlns:a16="http://schemas.microsoft.com/office/drawing/2014/main" id="{F2A7B6BF-8D5D-4BC0-9B75-0A524F8FC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Dinâmica do barco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Espaço Reservado para Conteúdo 2">
            <a:extLst>
              <a:ext uri="{FF2B5EF4-FFF2-40B4-BE49-F238E27FC236}">
                <a16:creationId xmlns:a16="http://schemas.microsoft.com/office/drawing/2014/main" id="{01939E27-9DF7-4BDE-BDBC-DA1BD004E68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algn="just"/>
            <a:r>
              <a:rPr lang="pt-BR" altLang="pt-BR"/>
              <a:t>A atividade se concentra na </a:t>
            </a:r>
            <a:r>
              <a:rPr lang="pt-BR" altLang="pt-BR" b="1"/>
              <a:t>construção de um barco, </a:t>
            </a:r>
            <a:r>
              <a:rPr lang="pt-BR" altLang="pt-BR"/>
              <a:t>tarefa que deve ser seguida em três etapas distintas, utilizando 10 folhas de papel.</a:t>
            </a:r>
          </a:p>
          <a:p>
            <a:pPr algn="just"/>
            <a:endParaRPr lang="pt-BR" altLang="pt-BR"/>
          </a:p>
          <a:p>
            <a:pPr algn="just"/>
            <a:r>
              <a:rPr lang="pt-BR" altLang="pt-BR"/>
              <a:t>Cada grupo pode fazer um barco pequeno, médio ou grande, mas precisa seguir restritamente as regras impostas na dinâmica.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ítulo 1">
            <a:extLst>
              <a:ext uri="{FF2B5EF4-FFF2-40B4-BE49-F238E27FC236}">
                <a16:creationId xmlns:a16="http://schemas.microsoft.com/office/drawing/2014/main" id="{3B4274B1-5B34-4080-AA6D-90EA2A227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altLang="pt-BR"/>
              <a:t>Primeira Etapa</a:t>
            </a:r>
          </a:p>
        </p:txBody>
      </p:sp>
      <p:sp>
        <p:nvSpPr>
          <p:cNvPr id="18435" name="Espaço Reservado para Conteúdo 2">
            <a:extLst>
              <a:ext uri="{FF2B5EF4-FFF2-40B4-BE49-F238E27FC236}">
                <a16:creationId xmlns:a16="http://schemas.microsoft.com/office/drawing/2014/main" id="{A555EC78-8526-4334-9C7B-CABA29A34E2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algn="just"/>
            <a:r>
              <a:rPr lang="pt-BR" altLang="pt-BR"/>
              <a:t>Nesta primeira etapa, as equipes devem propor ideias entre si para construir o barco sem qualquer tipo de comunicação que não seja a mímica. </a:t>
            </a:r>
          </a:p>
          <a:p>
            <a:pPr algn="just"/>
            <a:endParaRPr lang="pt-BR" altLang="pt-BR"/>
          </a:p>
          <a:p>
            <a:pPr algn="just"/>
            <a:r>
              <a:rPr lang="pt-BR" altLang="pt-BR"/>
              <a:t>Falar, fazer anotações, murmurar, cantar ou qualquer forma de comunicação é proibida durante os </a:t>
            </a:r>
            <a:r>
              <a:rPr lang="pt-BR" altLang="pt-BR" b="1"/>
              <a:t>três</a:t>
            </a:r>
            <a:r>
              <a:rPr lang="pt-BR" altLang="pt-BR"/>
              <a:t> primeiros minutos de atividade.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ítulo 1">
            <a:extLst>
              <a:ext uri="{FF2B5EF4-FFF2-40B4-BE49-F238E27FC236}">
                <a16:creationId xmlns:a16="http://schemas.microsoft.com/office/drawing/2014/main" id="{C5EB6045-24D9-49B9-AA51-27C809C5C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altLang="pt-BR"/>
              <a:t>Segunda Etapa</a:t>
            </a:r>
          </a:p>
        </p:txBody>
      </p:sp>
      <p:sp>
        <p:nvSpPr>
          <p:cNvPr id="19459" name="Espaço Reservado para Conteúdo 2">
            <a:extLst>
              <a:ext uri="{FF2B5EF4-FFF2-40B4-BE49-F238E27FC236}">
                <a16:creationId xmlns:a16="http://schemas.microsoft.com/office/drawing/2014/main" id="{4968B46E-ADB7-4118-8CD4-4B0E2BC3A16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algn="just"/>
            <a:r>
              <a:rPr lang="pt-BR" altLang="pt-BR"/>
              <a:t>Passados os três minutos, o líder de cada grupo poderá se comunicar com os outros integrantes, mas a regra contra anotações e outras comunicações continua válida. </a:t>
            </a:r>
          </a:p>
          <a:p>
            <a:pPr algn="just"/>
            <a:r>
              <a:rPr lang="pt-BR" altLang="pt-BR"/>
              <a:t>Somente o líder poderá se comunicar, de modo a facilitar a construção do barco. Esta etapa deve durar mais </a:t>
            </a:r>
            <a:r>
              <a:rPr lang="pt-BR" altLang="pt-BR" b="1"/>
              <a:t>três</a:t>
            </a:r>
            <a:r>
              <a:rPr lang="pt-BR" altLang="pt-BR"/>
              <a:t> minutos.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ítulo 1">
            <a:extLst>
              <a:ext uri="{FF2B5EF4-FFF2-40B4-BE49-F238E27FC236}">
                <a16:creationId xmlns:a16="http://schemas.microsoft.com/office/drawing/2014/main" id="{BBD00E7C-8F3D-442E-889A-4FD209347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altLang="pt-BR"/>
              <a:t>Terceira Etapa</a:t>
            </a:r>
          </a:p>
        </p:txBody>
      </p:sp>
      <p:sp>
        <p:nvSpPr>
          <p:cNvPr id="20483" name="Espaço Reservado para Conteúdo 2">
            <a:extLst>
              <a:ext uri="{FF2B5EF4-FFF2-40B4-BE49-F238E27FC236}">
                <a16:creationId xmlns:a16="http://schemas.microsoft.com/office/drawing/2014/main" id="{F9EC67C2-D8EC-4DC7-A0AD-9BA8EF746B5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algn="just"/>
            <a:r>
              <a:rPr lang="pt-BR" altLang="pt-BR"/>
              <a:t>Nesta etapa final, as equipes poderão se comunicar normalmente por </a:t>
            </a:r>
            <a:r>
              <a:rPr lang="pt-BR" altLang="pt-BR" b="1"/>
              <a:t>quatro</a:t>
            </a:r>
            <a:r>
              <a:rPr lang="pt-BR" altLang="pt-BR"/>
              <a:t> minutos. Os monitores da atividade não podem dar palpites, mas somente observar e analisar cada forma de contato entre os integrantes para que o barco seja montado. Ao término da dinâmica, todos os monitores darão o veredito para conferir se as equipes conseguiram montar seus barcos.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ítulo 1">
            <a:extLst>
              <a:ext uri="{FF2B5EF4-FFF2-40B4-BE49-F238E27FC236}">
                <a16:creationId xmlns:a16="http://schemas.microsoft.com/office/drawing/2014/main" id="{E64DC161-8724-42D8-8B5B-1FD51F3BF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altLang="pt-BR"/>
              <a:t>Conclusões</a:t>
            </a:r>
          </a:p>
        </p:txBody>
      </p:sp>
      <p:sp>
        <p:nvSpPr>
          <p:cNvPr id="21507" name="Espaço Reservado para Conteúdo 2">
            <a:extLst>
              <a:ext uri="{FF2B5EF4-FFF2-40B4-BE49-F238E27FC236}">
                <a16:creationId xmlns:a16="http://schemas.microsoft.com/office/drawing/2014/main" id="{14C4CA05-4656-448C-A387-23AD19794E2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pt-BR" altLang="pt-BR"/>
              <a:t>Dificuldades</a:t>
            </a:r>
          </a:p>
          <a:p>
            <a:endParaRPr lang="pt-BR" altLang="pt-BR"/>
          </a:p>
          <a:p>
            <a:r>
              <a:rPr lang="pt-BR" altLang="pt-BR"/>
              <a:t>Potencialidades</a:t>
            </a:r>
          </a:p>
          <a:p>
            <a:endParaRPr lang="pt-BR" altLang="pt-BR"/>
          </a:p>
          <a:p>
            <a:r>
              <a:rPr lang="pt-BR" altLang="pt-BR"/>
              <a:t>Relação com Desenvolvimento de Software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DB5EF7C-DE7C-4F27-9A0E-C5A8CA970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Ementa</a:t>
            </a:r>
          </a:p>
        </p:txBody>
      </p:sp>
    </p:spTree>
    <p:extLst>
      <p:ext uri="{BB962C8B-B14F-4D97-AF65-F5344CB8AC3E}">
        <p14:creationId xmlns:p14="http://schemas.microsoft.com/office/powerpoint/2010/main" val="2353735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Ementa (1/4)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Banco de Dados</a:t>
            </a:r>
            <a:endParaRPr lang="pt-BR" dirty="0"/>
          </a:p>
          <a:p>
            <a:pPr lvl="1"/>
            <a:r>
              <a:rPr lang="pt-BR" dirty="0"/>
              <a:t>Conceitos e Características</a:t>
            </a:r>
          </a:p>
          <a:p>
            <a:pPr lvl="1"/>
            <a:r>
              <a:rPr lang="pt-BR" dirty="0"/>
              <a:t>Tipos de Banco de Dados</a:t>
            </a:r>
          </a:p>
          <a:p>
            <a:pPr lvl="1"/>
            <a:r>
              <a:rPr lang="pt-BR" dirty="0"/>
              <a:t>Sistema de gerenciamento de Banco de dados</a:t>
            </a:r>
          </a:p>
          <a:p>
            <a:endParaRPr lang="pt-BR" dirty="0"/>
          </a:p>
          <a:p>
            <a:pPr algn="just"/>
            <a:endParaRPr lang="pt-BR" dirty="0">
              <a:latin typeface="+mj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Ementa (2/4)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b="1" dirty="0"/>
              <a:t>Modelagem de Dados</a:t>
            </a:r>
            <a:endParaRPr lang="pt-BR" dirty="0"/>
          </a:p>
          <a:p>
            <a:pPr lvl="1"/>
            <a:r>
              <a:rPr lang="pt-BR" sz="2300" dirty="0"/>
              <a:t>Modelo de dados, conceitos e objetivos</a:t>
            </a:r>
            <a:endParaRPr lang="pt-BR" sz="1500" dirty="0"/>
          </a:p>
          <a:p>
            <a:pPr lvl="1"/>
            <a:r>
              <a:rPr lang="pt-BR" sz="2300" b="1" dirty="0"/>
              <a:t> </a:t>
            </a:r>
            <a:r>
              <a:rPr lang="pt-BR" sz="2300" dirty="0"/>
              <a:t>Tipos de dados</a:t>
            </a:r>
            <a:endParaRPr lang="pt-BR" sz="1500" dirty="0"/>
          </a:p>
          <a:p>
            <a:pPr lvl="1"/>
            <a:r>
              <a:rPr lang="pt-BR" sz="2300" b="1" dirty="0"/>
              <a:t> </a:t>
            </a:r>
            <a:r>
              <a:rPr lang="pt-BR" sz="2300" dirty="0"/>
              <a:t>Diagrama de entidade e Relacionamento (DER)</a:t>
            </a:r>
            <a:endParaRPr lang="pt-BR" sz="1500" dirty="0"/>
          </a:p>
          <a:p>
            <a:pPr lvl="2"/>
            <a:r>
              <a:rPr lang="pt-BR" sz="2100" b="1" dirty="0"/>
              <a:t> </a:t>
            </a:r>
            <a:r>
              <a:rPr lang="pt-BR" sz="2100" dirty="0"/>
              <a:t>Entidade</a:t>
            </a:r>
            <a:endParaRPr lang="pt-BR" sz="1300" dirty="0"/>
          </a:p>
          <a:p>
            <a:pPr lvl="2"/>
            <a:r>
              <a:rPr lang="pt-BR" sz="2100" b="1" dirty="0"/>
              <a:t> </a:t>
            </a:r>
            <a:r>
              <a:rPr lang="pt-BR" sz="2100" dirty="0"/>
              <a:t>Atributos</a:t>
            </a:r>
            <a:endParaRPr lang="pt-BR" sz="1300" dirty="0"/>
          </a:p>
          <a:p>
            <a:pPr lvl="2"/>
            <a:r>
              <a:rPr lang="pt-BR" sz="2100" b="1" dirty="0"/>
              <a:t> </a:t>
            </a:r>
            <a:r>
              <a:rPr lang="pt-BR" sz="2100" dirty="0"/>
              <a:t>Cardinalidade</a:t>
            </a:r>
            <a:endParaRPr lang="pt-BR" sz="1300" dirty="0"/>
          </a:p>
          <a:p>
            <a:pPr lvl="2"/>
            <a:r>
              <a:rPr lang="pt-BR" sz="2100" b="1" dirty="0"/>
              <a:t> </a:t>
            </a:r>
            <a:r>
              <a:rPr lang="pt-BR" sz="2100" dirty="0"/>
              <a:t>Relacionamento</a:t>
            </a:r>
            <a:endParaRPr lang="pt-BR" b="1" i="1" dirty="0"/>
          </a:p>
          <a:p>
            <a:pPr>
              <a:buNone/>
            </a:pPr>
            <a:endParaRPr lang="pt-BR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Ementa (3/4)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b="1" dirty="0"/>
              <a:t>Projeto de Banco de Dados</a:t>
            </a:r>
            <a:endParaRPr lang="pt-BR" dirty="0"/>
          </a:p>
          <a:p>
            <a:pPr lvl="1"/>
            <a:r>
              <a:rPr lang="pt-BR" sz="2300" dirty="0"/>
              <a:t>Fases do Projeto de Banco de Dados</a:t>
            </a:r>
            <a:endParaRPr lang="pt-BR" sz="1500" dirty="0"/>
          </a:p>
          <a:p>
            <a:pPr lvl="1"/>
            <a:r>
              <a:rPr lang="pt-BR" sz="2300" dirty="0"/>
              <a:t>Projeto Conceitual</a:t>
            </a:r>
            <a:endParaRPr lang="pt-BR" sz="1500" dirty="0"/>
          </a:p>
          <a:p>
            <a:pPr lvl="1"/>
            <a:r>
              <a:rPr lang="pt-BR" sz="2300" dirty="0"/>
              <a:t>Projeto Lógico</a:t>
            </a:r>
            <a:endParaRPr lang="pt-BR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Ementa (4/4)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b="1" dirty="0"/>
              <a:t>Linguagem SQL</a:t>
            </a:r>
            <a:endParaRPr lang="pt-BR" dirty="0"/>
          </a:p>
          <a:p>
            <a:pPr lvl="1"/>
            <a:r>
              <a:rPr lang="pt-BR" dirty="0"/>
              <a:t>Linguagem de consulta estruturada (SQL)</a:t>
            </a:r>
          </a:p>
          <a:p>
            <a:pPr lvl="2"/>
            <a:r>
              <a:rPr lang="pt-BR" dirty="0"/>
              <a:t>Linguagem de definição de dados (DDL)</a:t>
            </a:r>
          </a:p>
          <a:p>
            <a:pPr lvl="2"/>
            <a:r>
              <a:rPr lang="pt-BR" dirty="0"/>
              <a:t>Linguagem de manipulação de dados (DML)</a:t>
            </a:r>
          </a:p>
          <a:p>
            <a:pPr lvl="2"/>
            <a:r>
              <a:rPr lang="pt-BR" dirty="0"/>
              <a:t>Comandos de seleção, inserção, remoção e atualização</a:t>
            </a:r>
          </a:p>
          <a:p>
            <a:pPr lvl="1"/>
            <a:endParaRPr lang="pt-BR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Recursos didáticos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>
                <a:latin typeface="+mj-lt"/>
              </a:rPr>
              <a:t>Aula expositiva / dialogada;</a:t>
            </a:r>
          </a:p>
          <a:p>
            <a:pPr algn="just"/>
            <a:r>
              <a:rPr lang="pt-BR" dirty="0">
                <a:latin typeface="+mj-lt"/>
              </a:rPr>
              <a:t>Lista de exercícios; </a:t>
            </a:r>
          </a:p>
          <a:p>
            <a:pPr algn="just"/>
            <a:r>
              <a:rPr lang="pt-BR" dirty="0">
                <a:latin typeface="+mj-lt"/>
              </a:rPr>
              <a:t>Desenvolvimento de estudos de caso práticos;</a:t>
            </a:r>
          </a:p>
          <a:p>
            <a:pPr algn="just"/>
            <a:r>
              <a:rPr lang="pt-BR" dirty="0">
                <a:latin typeface="+mj-lt"/>
              </a:rPr>
              <a:t>Software para construção de consultas;</a:t>
            </a:r>
          </a:p>
          <a:p>
            <a:pPr>
              <a:buNone/>
            </a:pPr>
            <a:r>
              <a:rPr lang="pt-BR" dirty="0"/>
              <a:t> 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1"/>
          <p:cNvSpPr>
            <a:spLocks noGrp="1"/>
          </p:cNvSpPr>
          <p:nvPr>
            <p:ph type="title"/>
          </p:nvPr>
        </p:nvSpPr>
        <p:spPr>
          <a:xfrm>
            <a:off x="539750" y="0"/>
            <a:ext cx="8153400" cy="990600"/>
          </a:xfrm>
        </p:spPr>
        <p:txBody>
          <a:bodyPr>
            <a:normAutofit fontScale="90000"/>
          </a:bodyPr>
          <a:lstStyle/>
          <a:p>
            <a:br>
              <a:rPr lang="pt-BR"/>
            </a:br>
            <a:r>
              <a:rPr lang="pt-BR"/>
              <a:t>Avaliação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468313" y="1773238"/>
            <a:ext cx="8153400" cy="4495800"/>
          </a:xfrm>
        </p:spPr>
        <p:txBody>
          <a:bodyPr/>
          <a:lstStyle/>
          <a:p>
            <a:pPr algn="just">
              <a:defRPr/>
            </a:pPr>
            <a:r>
              <a:rPr lang="pt-BR" dirty="0">
                <a:latin typeface="+mj-lt"/>
              </a:rPr>
              <a:t>Avaliação/ Recuperação formal escrita;</a:t>
            </a:r>
          </a:p>
          <a:p>
            <a:pPr algn="just">
              <a:defRPr/>
            </a:pPr>
            <a:r>
              <a:rPr lang="pt-BR" dirty="0">
                <a:latin typeface="+mj-lt"/>
              </a:rPr>
              <a:t>Trabalhos Escritos / Práticos e Estudos de Caso práticos.</a:t>
            </a:r>
          </a:p>
          <a:p>
            <a:pPr algn="just">
              <a:defRPr/>
            </a:pPr>
            <a:endParaRPr lang="pt-BR" dirty="0">
              <a:latin typeface="+mj-lt"/>
            </a:endParaRPr>
          </a:p>
          <a:p>
            <a:pPr lvl="1" algn="just">
              <a:defRPr/>
            </a:pPr>
            <a:r>
              <a:rPr lang="pt-BR" dirty="0">
                <a:latin typeface="+mj-lt"/>
              </a:rPr>
              <a:t>Avaliação de segunda chamada: 72h para solicitação;</a:t>
            </a:r>
          </a:p>
          <a:p>
            <a:pPr lvl="1" algn="just">
              <a:defRPr/>
            </a:pPr>
            <a:r>
              <a:rPr lang="pt-BR" dirty="0">
                <a:latin typeface="+mj-lt"/>
              </a:rPr>
              <a:t>Trabalhos – Valor 7,0 ao entregar na aula posterior à data estabelecida.</a:t>
            </a:r>
            <a:endParaRPr lang="pt-BR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  <a:p>
            <a:r>
              <a:rPr lang="pt-BR" dirty="0"/>
              <a:t>Introdução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Banco de Dados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00192" y="4279032"/>
            <a:ext cx="2664296" cy="2102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Entendendo os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Calendários, censo, medidas de terras;</a:t>
            </a:r>
          </a:p>
          <a:p>
            <a:r>
              <a:rPr lang="pt-BR" dirty="0"/>
              <a:t>Estoques, salários, produção;</a:t>
            </a:r>
          </a:p>
          <a:p>
            <a:pPr algn="just"/>
            <a:r>
              <a:rPr lang="pt-BR" dirty="0"/>
              <a:t>Grandes Navegações e a contabilidade (Séc. XIV);</a:t>
            </a:r>
          </a:p>
          <a:p>
            <a:r>
              <a:rPr lang="pt-BR" dirty="0"/>
              <a:t> Prensa, Comércio, Balanço (Séc. XV a XVII)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Importância dos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Valem mais que os equipamentos;</a:t>
            </a:r>
          </a:p>
          <a:p>
            <a:r>
              <a:rPr lang="pt-BR" dirty="0"/>
              <a:t> Permitem obter vantagens competitivas;</a:t>
            </a:r>
          </a:p>
          <a:p>
            <a:r>
              <a:rPr lang="pt-BR" dirty="0"/>
              <a:t> Precisam ser acompanhados;</a:t>
            </a:r>
          </a:p>
          <a:p>
            <a:r>
              <a:rPr lang="pt-BR" dirty="0"/>
              <a:t> Devem estar protegidos;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Ambiente do Banco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pt-BR" dirty="0"/>
              <a:t>O papel sempre foi o meio mais usado para armazenar dados.</a:t>
            </a:r>
          </a:p>
          <a:p>
            <a:r>
              <a:rPr lang="pt-BR" dirty="0"/>
              <a:t>Grandes volumes são difíceis de manter e manusear.</a:t>
            </a:r>
          </a:p>
          <a:p>
            <a:r>
              <a:rPr lang="pt-BR" dirty="0"/>
              <a:t> Muito tempo para recuperar a informação desejada.</a:t>
            </a:r>
          </a:p>
          <a:p>
            <a:r>
              <a:rPr lang="pt-BR" dirty="0"/>
              <a:t> Arquivos em papel passaram ao meio eletrônico.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são bancos de dados?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/>
              <a:t>É um conjunto de arquivos relacionados entre si (CHU, 1983).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É uma coleção de dados operacionais armazenados, usados pelos sistemas de aplicação de uma determinada organização (Date, 1985).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É uma coleção de dados relacionados (</a:t>
            </a:r>
            <a:r>
              <a:rPr lang="pt-BR" dirty="0" err="1"/>
              <a:t>Elmasri</a:t>
            </a:r>
            <a:r>
              <a:rPr lang="pt-BR" dirty="0"/>
              <a:t> e </a:t>
            </a:r>
            <a:r>
              <a:rPr lang="pt-BR" dirty="0" err="1"/>
              <a:t>Navathe</a:t>
            </a:r>
            <a:r>
              <a:rPr lang="pt-BR" dirty="0"/>
              <a:t>, 1989).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Ambiente do Banco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pt-BR" dirty="0"/>
              <a:t>Sistema de Gerenciamento de Banco de Dados (SGBD) – facilita a organização e recuperação dos dados em tempo hábil. Soluciona muitos dos problemas de se trabalhar com dados.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Linguagens de Consulta (Ex. SQL) – facilita a manipulação e recuperação de informações através de declarações simples.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ALVES, W. P. </a:t>
            </a:r>
            <a:r>
              <a:rPr lang="pt-BR" i="1" dirty="0"/>
              <a:t>Fundamentos de Bancos de Dados.</a:t>
            </a:r>
          </a:p>
          <a:p>
            <a:r>
              <a:rPr lang="pt-BR" dirty="0"/>
              <a:t>Érica, 2004</a:t>
            </a:r>
          </a:p>
          <a:p>
            <a:r>
              <a:rPr lang="pt-BR" dirty="0"/>
              <a:t> ELMASRI., NAVATHE. </a:t>
            </a:r>
            <a:r>
              <a:rPr lang="pt-BR" i="1" dirty="0"/>
              <a:t>Sistemas de Banco de</a:t>
            </a:r>
          </a:p>
          <a:p>
            <a:r>
              <a:rPr lang="en-US" i="1" dirty="0"/>
              <a:t>Dados. 4 Ed. Pearson, 2005.</a:t>
            </a:r>
          </a:p>
          <a:p>
            <a:r>
              <a:rPr lang="pt-BR" dirty="0"/>
              <a:t> GILLENSON. M. L. </a:t>
            </a:r>
            <a:r>
              <a:rPr lang="pt-BR" i="1" dirty="0"/>
              <a:t>Fundamentos de Sistemas de</a:t>
            </a:r>
          </a:p>
          <a:p>
            <a:r>
              <a:rPr lang="pt-BR" i="1" dirty="0"/>
              <a:t>Gerencia de Banco de Dados. LTC, 2006.</a:t>
            </a:r>
          </a:p>
          <a:p>
            <a:r>
              <a:rPr lang="pt-BR" dirty="0"/>
              <a:t> SILBERSCHATZ. Sistema de Banco de Dados. 5</a:t>
            </a:r>
          </a:p>
          <a:p>
            <a:r>
              <a:rPr lang="pt-BR" dirty="0"/>
              <a:t>Ed. Campus, 2006.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ívico">
  <a:themeElements>
    <a:clrScheme name="Cívico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ívico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ívico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89</TotalTime>
  <Words>749</Words>
  <Application>Microsoft Office PowerPoint</Application>
  <PresentationFormat>Apresentação na tela (4:3)</PresentationFormat>
  <Paragraphs>113</Paragraphs>
  <Slides>23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7" baseType="lpstr">
      <vt:lpstr>Georgia</vt:lpstr>
      <vt:lpstr>Wingdings</vt:lpstr>
      <vt:lpstr>Wingdings 2</vt:lpstr>
      <vt:lpstr>Cívico</vt:lpstr>
      <vt:lpstr>Banco de Dados</vt:lpstr>
      <vt:lpstr>Objetivos e expectativas</vt:lpstr>
      <vt:lpstr>Apresentação e expectativas</vt:lpstr>
      <vt:lpstr>Dinâmica do barco</vt:lpstr>
      <vt:lpstr>Apresentação do PowerPoint</vt:lpstr>
      <vt:lpstr>Primeira Etapa</vt:lpstr>
      <vt:lpstr>Segunda Etapa</vt:lpstr>
      <vt:lpstr>Terceira Etapa</vt:lpstr>
      <vt:lpstr>Conclusões</vt:lpstr>
      <vt:lpstr>Ementa</vt:lpstr>
      <vt:lpstr>Ementa (1/4)</vt:lpstr>
      <vt:lpstr>Ementa (2/4)</vt:lpstr>
      <vt:lpstr>Ementa (3/4)</vt:lpstr>
      <vt:lpstr>Ementa (4/4)</vt:lpstr>
      <vt:lpstr>Recursos didáticos</vt:lpstr>
      <vt:lpstr> Avaliação</vt:lpstr>
      <vt:lpstr>Banco de Dados</vt:lpstr>
      <vt:lpstr>Entendendo os Dados</vt:lpstr>
      <vt:lpstr>Importância dos Dados</vt:lpstr>
      <vt:lpstr>Ambiente do Banco de Dados</vt:lpstr>
      <vt:lpstr>O que são bancos de dados?</vt:lpstr>
      <vt:lpstr>Ambiente do Banco de Dados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Banco de Dados</dc:title>
  <dc:creator>Mariane</dc:creator>
  <cp:lastModifiedBy>Mariane Draghetti</cp:lastModifiedBy>
  <cp:revision>18</cp:revision>
  <dcterms:created xsi:type="dcterms:W3CDTF">2014-07-25T11:38:40Z</dcterms:created>
  <dcterms:modified xsi:type="dcterms:W3CDTF">2020-02-05T23:28:28Z</dcterms:modified>
</cp:coreProperties>
</file>